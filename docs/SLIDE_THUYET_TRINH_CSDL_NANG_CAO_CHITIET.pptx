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400" b="1">
                <a:solidFill>
                  <a:srgbClr val="00A8CC"/>
                </a:solidFill>
                <a:latin typeface="Arial"/>
              </a:defRPr>
            </a:pPr>
            <a:r>
              <a:t>BÁO CÁO DỰ ÁN THỰC TẾ &amp; BÀI BÁO KHOA HỌC</a:t>
            </a:r>
          </a:p>
          <a:p>
            <a:pPr algn="ctr">
              <a:spcAft>
                <a:spcPts val="800"/>
              </a:spcAft>
              <a:defRPr sz="2600" b="1">
                <a:solidFill>
                  <a:srgbClr val="FFFFFF"/>
                </a:solidFill>
                <a:latin typeface="Arial"/>
              </a:defRPr>
            </a:pPr>
            <a:r>
              <a:t>NGHIÊN CỨU, ĐÁNH GIÁ VÀ TỐI ƯU HÓA HIỆU NĂNG TRUY VẤN</a:t>
            </a:r>
            <a:br/>
            <a:r>
              <a:t>TRÊN CƠ SỞ DỮ LIỆU QUAN HỆ QUY MÔ LỚN</a:t>
            </a:r>
          </a:p>
          <a:p>
            <a:pPr algn="ctr">
              <a:spcAft>
                <a:spcPts val="2400"/>
              </a:spcAft>
              <a:defRPr sz="1500" i="1">
                <a:solidFill>
                  <a:srgbClr val="E69500"/>
                </a:solidFill>
                <a:latin typeface="Arial"/>
              </a:defRPr>
            </a:pPr>
            <a:r>
              <a:t>Kỹ thuật Tinh chỉnh Chỉ mục Nâng cao, Phân vùng Dữ liệu và Tối ưu hóa Kế hoạch Thực thi</a:t>
            </a:r>
            <a:br/>
            <a:r>
              <a:t>(Thực nghiệm trên Dữ liệu Thực tế Olist Store 100.000 Đơn hàng)</a:t>
            </a:r>
          </a:p>
          <a:p>
            <a:pPr algn="ctr">
              <a:defRPr sz="1200">
                <a:solidFill>
                  <a:srgbClr val="FFFFFF"/>
                </a:solidFill>
                <a:latin typeface="Arial"/>
              </a:defRPr>
            </a:pPr>
            <a:r>
              <a:t>Học phần: Cơ sở dữ liệu nâng cao  |  Chương trình Thạc sĩ CNTT  |  Năm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1. Bối cảnh Doanh nghiệp &amp; Điểm nghẽn Hiệu năng CSDL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Thách thức Dữ liệu Lớn trong RDBMS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• Bùng nổ Giao dịch E-Commerce:</a:t>
            </a:r>
            <a:br/>
            <a:r>
              <a:t>  Dữ liệu đơn hàng, thanh toán, đánh giá tăng trưởng liên tục lên hàng trăm nghìn - hàng triệu bản ghi chuẩn 3NF.</a:t>
            </a:r>
            <a:br/>
            <a:br/>
            <a:r>
              <a:t>• Báo cáo Quản trị Phức hợp:</a:t>
            </a:r>
            <a:br/>
            <a:r>
              <a:t>  Đòi hỏi phép kết nối đồng thời từ 3 đến 6 bảng lớn với các điều kiện lọc thời gian và tính toán doanh thu.</a:t>
            </a:r>
            <a:br/>
            <a:br/>
            <a:r>
              <a:t>• Suy thoái Hiệu năng Nghiêm trọng:</a:t>
            </a:r>
            <a:br/>
            <a:r>
              <a:t>  Truy vấn chậm từ vài ms lên 10-30s khi thiếu thiết kế vật lý, làm nghẽn toàn bộ tài nguyên I/O đĩa và CPU.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3 Khoảng trống Kỹ thuật Cốt lõi</a:t>
            </a:r>
          </a:p>
          <a:p>
            <a:pPr>
              <a:defRPr sz="1250">
                <a:solidFill>
                  <a:srgbClr val="212529"/>
                </a:solidFill>
              </a:defRPr>
            </a:pPr>
            <a:r>
              <a:t>1. Sai số Ước lượng Lực lượng (Leis et al. VLDB):</a:t>
            </a:r>
            <a:br/>
            <a:r>
              <a:t>  Bộ tối ưu hóa CBO ước lượng sai số dòng lên tới 10^4 - 10^6 lần, chọn nhầm toán tử Join tồi tệ.</a:t>
            </a:r>
            <a:br/>
            <a:br/>
            <a:r>
              <a:t>2. Nghịch lý Tinh chỉnh Chỉ mục (Selectivity Trap):</a:t>
            </a:r>
            <a:br/>
            <a:r>
              <a:t>  Tạo chỉ mục đơn trên cột có độ chọn lọc thấp (ví dụ: status='delivered' chiếm 97%) làm chậm hơn quét tuần tự.</a:t>
            </a:r>
            <a:br/>
            <a:br/>
            <a:r>
              <a:t>3. Quét Bảng Đơn khối Cồng kềnh:</a:t>
            </a:r>
            <a:br/>
            <a:r>
              <a:t>  Quét lãng phí hàng chục nghìn trang dữ liệu lịch sử không liên quan thay vì áp dụng Partition Pruning.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2. Mục tiêu Khoa học &amp; 3 Câu hỏi Nghiên cứu (RQs)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RQ1: Kế hoạch Thực thi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Kế hoạch thực thi vật lý (Execution Plan) thay đổi như thế nào khi chuyển dịch qua 4 giai đoạn tinh chỉnh:</a:t>
            </a:r>
            <a:br/>
            <a:br/>
            <a:r>
              <a:t>• SCAN TABLE (Quét toàn bảng)</a:t>
            </a:r>
            <a:br/>
            <a:r>
              <a:t>• SEARCH USING INDEX (Chỉ mục đơn)</a:t>
            </a:r>
            <a:br/>
            <a:r>
              <a:t>• COMPOSITE INDEX (Đa thuộc tính)</a:t>
            </a:r>
            <a:br/>
            <a:r>
              <a:t>• INDEX-ONLY SCAN (Chỉ mục bao phủ)</a:t>
            </a:r>
            <a:br/>
            <a:br/>
            <a:r>
              <a:t>Mức độ cải thiện độ trễ định lượng là bao nhiêu lần?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RQ2: Nghịch lý Chỉ mục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Trong điều kiện nào việc tạo chỉ mục đơn làm suy giảm hiệu năng truy vấn so với quét toàn bộ bảng?</a:t>
            </a:r>
            <a:br/>
            <a:br/>
            <a:r>
              <a:t>• Bản chất chi phí I/O đọc ngẫu nhiên (Random Disk Seeks) qua cây B-Tree.</a:t>
            </a:r>
            <a:br/>
            <a:r>
              <a:t>• Ngưỡng độ chọn lọc vị từ (Selectivity Threshold &gt; 20%).</a:t>
            </a:r>
            <a:br/>
            <a:r>
              <a:t>• Giải pháp khắc phục bằng Composite &amp; Partial Indexing.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RQ3: Cắt tỉa Phân vùng</a:t>
            </a:r>
          </a:p>
          <a:p>
            <a:pPr>
              <a:defRPr sz="1200">
                <a:solidFill>
                  <a:srgbClr val="212529"/>
                </a:solidFill>
              </a:defRPr>
            </a:pPr>
            <a:r>
              <a:t>Kỹ thuật phân vùng bảng theo dải thời gian (Range Partitioning) kết hợp Loại trừ phân vùng (Partition Pruning) đem lại hiệu quả gì?</a:t>
            </a:r>
            <a:br/>
            <a:br/>
            <a:r>
              <a:t>• Mức độ cắt giảm số trang đĩa quét.</a:t>
            </a:r>
            <a:br/>
            <a:r>
              <a:t>• Đánh giá thời gian truy vấn trên dữ liệu thực tế 100.000 đơn hàng.</a:t>
            </a:r>
            <a:br/>
            <a:r>
              <a:t>• Hệ số tăng tốc thực tế so với bảng đơn khối.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3. Ma trận Tổng quan 45 Tài liệu Tham khảo Khoa học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Hệ thống hóa 45 Công trình Khoa học Hạng A* (ACM SIGMOD, VLDB, IEEE TKDE, ACM TODS)</a:t>
            </a:r>
          </a:p>
          <a:p>
            <a:pPr>
              <a:defRPr sz="1100">
                <a:solidFill>
                  <a:srgbClr val="212529"/>
                </a:solidFill>
              </a:defRPr>
            </a:pPr>
            <a:r>
              <a:t>1. Nhóm Tối ưu hóa Truy vấn Kinh điển (Selinger 1979, Chaudhuri 1998, Graefe 1993, Leis et al. 2015, 2018):</a:t>
            </a:r>
            <a:br/>
            <a:r>
              <a:t>   Mô hình chi phí System R, giải thuật quy hoạch động Join Order, mô hình lặp Volcano, và bộ benchmark JOB trên dữ liệu thực tế.</a:t>
            </a:r>
            <a:br/>
            <a:br/>
            <a:r>
              <a:t>2. Nhóm Tinh chỉnh Chỉ mục &amp; Thiết kế Vật lý (Chaudhuri &amp; Narasayya 1997, Agrawal 2000, Bruno 2002, Graefe 2011, Comer 1979):</a:t>
            </a:r>
            <a:br/>
            <a:r>
              <a:t>   Công cụ AutoAdmin, DB2 Design Advisor, Partial Indexing và cơ chế Covering Index (INDEX-ONLY SCAN).</a:t>
            </a:r>
            <a:br/>
            <a:br/>
            <a:r>
              <a:t>3. Nhóm Thuật toán Kết nối &amp; Histogram (Shapiro 1986, Mishra 1992, Poosala 1996, Haas 1995, Markl 2004, Stillger 2001):</a:t>
            </a:r>
            <a:br/>
            <a:r>
              <a:t>   Mô hình chi phí Hash Join, Sort-Merge Join, biểu đồ tần suất Equi-Depth, và bộ tối ưu hóa tự học LEO.</a:t>
            </a:r>
            <a:br/>
            <a:br/>
            <a:r>
              <a:t>4. Nhóm Phân vùng Bảng &amp; Lưu trữ Cột/Dòng (Stonebraker 2005, Abadi 2008, Rao 2012, Curino 2010, Pavlo 2012):</a:t>
            </a:r>
            <a:br/>
            <a:r>
              <a:t>   Kiến trúc C-Store, kỹ thuật nén cột, phân mảnh Workload-driven Schism, và cơ chế Partition Pruning.</a:t>
            </a:r>
            <a:br/>
            <a:br/>
            <a:r>
              <a:t>5. Nhóm Quản trị Bộ đệm &amp; Cache (O'Neil 1993, Megiddo &amp; Modha 2003, Johnson 1994, Effelsberg 1984, Chou 1985):</a:t>
            </a:r>
            <a:br/>
            <a:r>
              <a:t>   Thuật toán thay thế trang LRU-K, Adaptive Replacement Cache (ARC), và nguyên tắc đệm truy vấn DBMIN.</a:t>
            </a:r>
            <a:br/>
            <a:br/>
            <a:r>
              <a:t>6. Nhóm Học máy &amp; Tinh chỉnh CSDL Tự động (Kraska 2018, Marcus 2019 Neo, 2021 Bao, Yang 2020, Zhang 2019 CDBTune):</a:t>
            </a:r>
            <a:br/>
            <a:r>
              <a:t>   Chỉ mục học máy Learned B-Tree, điều khiển cờ gợi ý Optimizer Hints bằng Reinforcement Learning, và tự động tinh chỉnh cấu hình.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4. Cấu trúc Lưu trữ Vật lý &amp; Quản lý Bộ đệm (Buffer Pool)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Cấu trúc Slotted Page &amp; Chi phí I/O</a:t>
            </a:r>
          </a:p>
          <a:p>
            <a:pPr>
              <a:defRPr sz="1250"/>
            </a:pPr>
            <a:r>
              <a:t>• Đơn vị Truy xuất Khối đĩa (Pages):</a:t>
            </a:r>
            <a:br/>
            <a:r>
              <a:t>  CSDL quản lý đĩa theo trang 4KB - 8KB cố định. Mọi phép đọc ghi đều nạp nguyên trang đĩa.</a:t>
            </a:r>
            <a:br/>
            <a:br/>
            <a:r>
              <a:t>• Chi phí Truy xuất Đĩa:</a:t>
            </a:r>
            <a:br/>
            <a:r>
              <a:t>  - Đọc tuần tự (Sequential I/O): c_seq = 1.0 (nhanh nhờ cơ chế Read-Ahead).</a:t>
            </a:r>
            <a:br/>
            <a:r>
              <a:t>  - Đọc ngẫu nhiên (Random I/O): c_rand = 4.0 (rất đắt đỏ do phải nhảy trục cơ học hoặc địa chỉ nhớ).</a:t>
            </a:r>
            <a:br/>
            <a:br/>
            <a:r>
              <a:t>• Mục tiêu Tối ưu hóa:</a:t>
            </a:r>
            <a:br/>
            <a:r>
              <a:t>  Giảm thiểu tối đa số lượng trang đĩa cần nạp vào bộ đệm RAM.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Bộ đệm Trang &amp; Tinh chỉnh Cấu hình</a:t>
            </a:r>
          </a:p>
          <a:p>
            <a:pPr>
              <a:defRPr sz="1250"/>
            </a:pPr>
            <a:r>
              <a:t>• Phân cấp Độ trễ Bộ nhớ:</a:t>
            </a:r>
            <a:br/>
            <a:r>
              <a:t>  - Buffer Hit (RAM): ~100 ns</a:t>
            </a:r>
            <a:br/>
            <a:r>
              <a:t>  - Buffer Miss (NVMe SSD): ~100,000 ns (chậm hơn 1.000 lần)</a:t>
            </a:r>
            <a:br/>
            <a:r>
              <a:t>  - Buffer Miss (HDD): ~10,000,000 ns (chậm hơn 100.000 lần)</a:t>
            </a:r>
            <a:br/>
            <a:br/>
            <a:r>
              <a:t>• Thuật toán Thay thế Trang Tiên tiến:</a:t>
            </a:r>
            <a:br/>
            <a:r>
              <a:t>  LRU-K và ARC phân tách trang quét tạm thời và trang truy cập thường xuyên, ngăn ô nhiễm bộ đệm.</a:t>
            </a:r>
            <a:br/>
            <a:br/>
            <a:r>
              <a:t>• Tham số Cấu hình Then chốt:</a:t>
            </a:r>
            <a:br/>
            <a:r>
              <a:t>  shared_buffers (vùng đệm chung), work_mem (bộ nhớ băm và sắp xếp), random_page_cost.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5. Cây B+Tree &amp; Quy tắc Tiền tố Dài nhất trong Composite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Đặc tính Cây B+Tree</a:t>
            </a:r>
          </a:p>
          <a:p>
            <a:pPr>
              <a:defRPr sz="1250"/>
            </a:pPr>
            <a:r>
              <a:t>• Cấu trúc Tự Cân bằng Bậc M:</a:t>
            </a:r>
            <a:br/>
            <a:r>
              <a:t>  Mọi nút lá đều ở cùng một độ sâu; chiều cao cây luôn bảo đảm O(log_M N), thường chỉ 3 - 4 tầng cho hàng triệu dòng.</a:t>
            </a:r>
            <a:br/>
            <a:br/>
            <a:r>
              <a:t>• Nút Lá Liên kết Đôi (Doubly-Linked Leaves):</a:t>
            </a:r>
            <a:br/>
            <a:r>
              <a:t>  Cho phép duyệt tuần tự cực nhanh trong các truy vấn quét khoảng (Range Queries) mà không cần quay lui lên nút gốc.</a:t>
            </a:r>
            <a:br/>
            <a:br/>
            <a:r>
              <a:t>• Tối ưu Hóa I/O Khối:</a:t>
            </a:r>
            <a:br/>
            <a:r>
              <a:t>  Kích thước mỗi nút cây B+Tree được thiết kế vừa vặn với kích thước một trang đĩa vật lý.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Quy tắc Tiền tố Dài nhất (Leftmost Prefix Rule)</a:t>
            </a:r>
          </a:p>
          <a:p>
            <a:pPr>
              <a:defRPr sz="1250"/>
            </a:pPr>
            <a:r>
              <a:t>• Nguyên lý Hoạt động của Composite Index:</a:t>
            </a:r>
            <a:br/>
            <a:r>
              <a:t>  Một chỉ mục trên (Col1, Col2, Col3) sắp xếp ưu tiên tuyệt đối theo Col1, sau đó mới đến Col2, rồi Col3.</a:t>
            </a:r>
            <a:br/>
            <a:br/>
            <a:r>
              <a:t>• Khi nào Chỉ mục có Tác dụng?</a:t>
            </a:r>
            <a:br/>
            <a:r>
              <a:t>  - Lọc trên (Col1): CÓ DÙNG INDEX</a:t>
            </a:r>
            <a:br/>
            <a:r>
              <a:t>  - Lọc trên (Col1, Col2): CÓ DÙNG INDEX</a:t>
            </a:r>
            <a:br/>
            <a:r>
              <a:t>  - Lọc chỉ trên (Col2, Col3): VÔ HIỆU HÓA (Full Scan)!</a:t>
            </a:r>
            <a:br/>
            <a:br/>
            <a:r>
              <a:t>• Thứ tự Vàng khi Thiết kế Composite Index:</a:t>
            </a:r>
            <a:br/>
            <a:r>
              <a:t>  (Cột lọc Đẳng thức = , Cột Kết nối JOIN, Cột lọc Khoảng Range &lt; &gt;)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6. Đột phá Hiệu năng: Covering Index &amp; INDEX-ONLY SCAN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Chỉ mục Thông thường (2 Bước Đọc)</a:t>
            </a:r>
          </a:p>
          <a:p>
            <a:pPr>
              <a:defRPr sz="1250"/>
            </a:pPr>
            <a:r>
              <a:t>1. Bước 1: Duyệt cây B+Tree tìm khóa tìm kiếm, lấy được con trỏ dòng (RowID / Tuple Pointer).</a:t>
            </a:r>
            <a:br/>
            <a:br/>
            <a:r>
              <a:t>2. Bước 2 (Điểm nghẽn): Đọc Trang Bảng Dữ liệu (Heap Table Fetch) từ đĩa để lấy các cột còn lại trong mệnh đề SELECT.</a:t>
            </a:r>
            <a:br/>
            <a:br/>
            <a:r>
              <a:t>Hậu quả: Nếu có 10.000 dòng thỏa mãn, hệ thống phải thực hiện 10.000 phép đọc đĩa ngẫu nhiên (Random Heap Fetches), làm chậm toàn bộ truy vấn!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Covering Index (1 Bước Đọc Duy nhất)</a:t>
            </a:r>
          </a:p>
          <a:p>
            <a:pPr>
              <a:defRPr sz="1250"/>
            </a:pPr>
            <a:r>
              <a:t>• Khái niệm Chỉ mục Bao phủ (Covering Index):</a:t>
            </a:r>
            <a:br/>
            <a:r>
              <a:t>  Bao gồm toàn bộ các cột xuất hiện trong câu lệnh SELECT vào lá của cây chỉ mục (Composite hoặc INCLUDE clause).</a:t>
            </a:r>
            <a:br/>
            <a:br/>
            <a:r>
              <a:t>• Kích hoạt Toán tử INDEX-ONLY SCAN:</a:t>
            </a:r>
            <a:br/>
            <a:r>
              <a:t>  Bộ tối ưu hóa CBO nhận diện toàn bộ dữ liệu cần lấy đã nằm sẵn trong lá B-Tree.</a:t>
            </a:r>
            <a:br/>
            <a:br/>
            <a:r>
              <a:t>• Lợi ích Vượt trội:</a:t>
            </a:r>
            <a:br/>
            <a:r>
              <a:t>  Triệt tiêu 100% thao tác đọc Heap Pages trên đĩa, tăng tốc độ truy vấn từ 40% đến 60%!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CẤU TRÚC VẬT LÝ VÀ BỘ NHỚ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6B. Bản chất Vật lý: B+Tree Index Scan vs. Covering Index-Only Scan</a:t>
            </a:r>
          </a:p>
        </p:txBody>
      </p:sp>
      <p:pic>
        <p:nvPicPr>
          <p:cNvPr id="3" name="Picture 2" descr="fig8_index_scan_vs_index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12" y="1234440"/>
            <a:ext cx="1047287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7. Động học các Toán tử Kết nối Đa Bảng (Joins)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Nested Loop Join</a:t>
            </a:r>
          </a:p>
          <a:p>
            <a:pPr>
              <a:defRPr sz="1200"/>
            </a:pPr>
            <a:r>
              <a:t>• Cơ chế:</a:t>
            </a:r>
            <a:br/>
            <a:r>
              <a:t>  Duyệt từng dòng bảng ngoài, tìm kiếm dòng tương ứng trong bảng trong.</a:t>
            </a:r>
            <a:br/>
            <a:br/>
            <a:r>
              <a:t>• Khi nào Tối ưu?</a:t>
            </a:r>
            <a:br/>
            <a:r>
              <a:t>  Bảng ngoài rất nhỏ (&lt;100 dòng) và bảng trong có chỉ mục B-Tree (Index Nested Loop).</a:t>
            </a:r>
            <a:br/>
            <a:br/>
            <a:r>
              <a:t>• Nguy cơ Thảm họa:</a:t>
            </a:r>
            <a:br/>
            <a:r>
              <a:t>  Chi phí O(M * N) bùng nổ nếu hai bảng đều lớn và thiếu chỉ mục.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Hash Join</a:t>
            </a:r>
          </a:p>
          <a:p>
            <a:pPr>
              <a:defRPr sz="1200"/>
            </a:pPr>
            <a:r>
              <a:t>• Cơ chế:</a:t>
            </a:r>
            <a:br/>
            <a:r>
              <a:t>  - Build: Băm bảng nhỏ vào RAM (work_mem).</a:t>
            </a:r>
            <a:br/>
            <a:r>
              <a:t>  - Probe: Quét bảng lớn đối chiếu khóa băm.</a:t>
            </a:r>
            <a:br/>
            <a:br/>
            <a:r>
              <a:t>• Khi nào Tối ưu?</a:t>
            </a:r>
            <a:br/>
            <a:r>
              <a:t>  Hai bảng đều lớn, phép kết nối bằng (=), không có thứ tự sắp xếp sẵn.</a:t>
            </a:r>
            <a:br/>
            <a:br/>
            <a:r>
              <a:t>• Điểm nghẽn:</a:t>
            </a:r>
            <a:br/>
            <a:r>
              <a:t>  Tốn RAM; nếu bảng băm vượt work_mem phải tràn xuống đĩa (Grace Hash Join).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371600"/>
            <a:ext cx="329184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Sort-Merge Join</a:t>
            </a:r>
          </a:p>
          <a:p>
            <a:pPr>
              <a:defRPr sz="1200"/>
            </a:pPr>
            <a:r>
              <a:t>• Cơ chế:</a:t>
            </a:r>
            <a:br/>
            <a:r>
              <a:t>  Sắp xếp cả hai bảng theo thuộc tính kết nối, sau đó duyệt đồng thời 2 con trỏ tuần tự.</a:t>
            </a:r>
            <a:br/>
            <a:br/>
            <a:r>
              <a:t>• Khi nào Tối ưu?</a:t>
            </a:r>
            <a:br/>
            <a:r>
              <a:t>  Dữ liệu lớn đã được chỉ mục B-Tree sắp xếp sẵn theo thứ tự kết nối.</a:t>
            </a:r>
            <a:br/>
            <a:br/>
            <a:r>
              <a:t>• Điểm nghẽn:</a:t>
            </a:r>
            <a:br/>
            <a:r>
              <a:t>  Chi phí External Sort rất đắt đỏ nếu dữ liệu ban đầu chưa được sắp xếp.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8. Kỹ thuật Phân vùng Bảng &amp; Cắt tỉa (Partition Pruning)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Kiến trúc Phân vùng Dải Thời gian (Range)</a:t>
            </a:r>
          </a:p>
          <a:p>
            <a:pPr>
              <a:defRPr sz="1250"/>
            </a:pPr>
            <a:r>
              <a:t>• Phân tách Bảng Lớn thành các Phân vùng Con:</a:t>
            </a:r>
            <a:br/>
            <a:r>
              <a:t>  Bảng orders (100.000 dòng) được phân vùng theo năm:</a:t>
            </a:r>
            <a:br/>
            <a:r>
              <a:t>  - orders_2016: 329 đơn hàng</a:t>
            </a:r>
            <a:br/>
            <a:r>
              <a:t>  - orders_2017: 45.101 đơn hàng</a:t>
            </a:r>
            <a:br/>
            <a:r>
              <a:t>  - orders_2018: 54.011 đơn hàng</a:t>
            </a:r>
            <a:br/>
            <a:br/>
            <a:r>
              <a:t>• Ràng buộc Kiểm tra (Check Constraints):</a:t>
            </a:r>
            <a:br/>
            <a:r>
              <a:t>  Mỗi phân vùng có ràng buộc ngày tháng nghiêm ngặt và chỉ mục cục bộ (Local B-Tree Index).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Nguyên lý Cắt tỉa Phân vùng (Partition Pruning)</a:t>
            </a:r>
          </a:p>
          <a:p>
            <a:pPr>
              <a:defRPr sz="1250"/>
            </a:pPr>
            <a:r>
              <a:t>• Loại trừ Phân vùng Tự động:</a:t>
            </a:r>
            <a:br/>
            <a:r>
              <a:t>  Khi câu truy vấn lọc dữ liệu quý 3 năm 2017 (2017-06-01 đến 2017-08-31):</a:t>
            </a:r>
            <a:br/>
            <a:br/>
            <a:r>
              <a:t>• Kế hoạch Thực thi Thông minh:</a:t>
            </a:r>
            <a:br/>
            <a:r>
              <a:t>  Bộ tối ưu hóa đối chiếu ràng buộc phân vùng và LOẠI BỎ HOÀN TOÀN việc quét phân vùng 2016 và 2018!</a:t>
            </a:r>
            <a:br/>
            <a:br/>
            <a:r>
              <a:t>• Hiệu quả Thực tế:</a:t>
            </a:r>
            <a:br/>
            <a:r>
              <a:t>  Tiết kiệm hơn 54.000 dòng quét đĩa, giảm 89,9% thời gian truy vấn (từ 71,58 ms xuống 7,26 ms, nhanh gần 10 lần)!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PHÂN VÙNG DỮ LIỆU THỰC TẾ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8B. Chuỗi Thời gian Đơn hàng Thực tế &amp; Chiến lược Phân vùng Bảng</a:t>
            </a:r>
          </a:p>
        </p:txBody>
      </p:sp>
      <p:pic>
        <p:nvPicPr>
          <p:cNvPr id="3" name="Picture 2" descr="fig3_orders_time_series_partitio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602067"/>
            <a:ext cx="10698480" cy="44768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9. Quản trị Giao dịch, ACID, MVCC và Phục hồi WAL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Bảo đảm Tính toàn vẹn ACID</a:t>
            </a:r>
          </a:p>
          <a:p>
            <a:pPr>
              <a:defRPr sz="1250"/>
            </a:pPr>
            <a:r>
              <a:t>• Atomicity (Nguyên tố):</a:t>
            </a:r>
            <a:br/>
            <a:r>
              <a:t>  Thao tác đặt hàng, trừ kho và thanh toán nằm trong 1 Transaction duy nhất; commit hoàn toàn hoặc rollback toàn bộ.</a:t>
            </a:r>
            <a:br/>
            <a:br/>
            <a:r>
              <a:t>• Consistency (Nhất quán):</a:t>
            </a:r>
            <a:br/>
            <a:r>
              <a:t>  Các ràng buộc toàn vẹn khóa chính, khóa ngoại (FK) giữa orders, items, customers luôn hợp lệ.</a:t>
            </a:r>
            <a:br/>
            <a:br/>
            <a:r>
              <a:t>• Isolation (Cô lập):</a:t>
            </a:r>
            <a:br/>
            <a:r>
              <a:t>  Ngăn ngừa các hiện tượng đọc bẩn (Dirty Read), đọc không lặp lại (Non-repeatable Read).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Cơ chế MVCC &amp; Nhật ký WAL</a:t>
            </a:r>
          </a:p>
          <a:p>
            <a:pPr>
              <a:defRPr sz="1250"/>
            </a:pPr>
            <a:r>
              <a:t>• MVCC (Multi-Version Concurrency Control):</a:t>
            </a:r>
            <a:br/>
            <a:r>
              <a:t>  Tạo các bản sao phiên bản của dòng dữ liệu. Các câu truy vấn đọc báo cáo không bao giờ khóa các thao tác ghi đơn hàng mới!</a:t>
            </a:r>
            <a:br/>
            <a:br/>
            <a:r>
              <a:t>• Write-Ahead Logging (WAL):</a:t>
            </a:r>
            <a:br/>
            <a:r>
              <a:t>  Mọi sửa đổi dữ liệu trang đệm đều được ghi tuần tự vào tệp WAL trên đĩa trước khi ghi xuống bảng dữ liệu.</a:t>
            </a:r>
            <a:br/>
            <a:br/>
            <a:r>
              <a:t>• Giao thức Phục hồi ARIES:</a:t>
            </a:r>
            <a:br/>
            <a:r>
              <a:t>  Bảo đảm khôi phục 100% dữ liệu nguyên vẹn sau khi gặp sự cố mất điện đột ngột.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10. Đặc tả Bộ Dữ liệu Thực tế Olist Store (Brazil E-Commerce)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Hệ thống 8 Bảng Quan hệ Chuẩn 3NF (Tổng dung lượng 85,07 MB, &gt;500.000 dòng)</a:t>
            </a:r>
          </a:p>
          <a:p>
            <a:pPr>
              <a:defRPr sz="1200"/>
            </a:pPr>
            <a:r>
              <a:t>• Bảng orders (99.441 bản ghi): Quản lý vòng đời đơn hàng, thời gian đặt, duyệt, giao hàng, trạng thái.</a:t>
            </a:r>
            <a:br/>
            <a:r>
              <a:t>• Bảng order_items (112.650 bản ghi): Chi tiết từng sản phẩm, giá bán, cước vận chuyển, người bán.</a:t>
            </a:r>
            <a:br/>
            <a:r>
              <a:t>• Bảng customers (99.441 bản ghi): Thông tin người mua hàng, thành phố, tiểu bang tại Brazil.</a:t>
            </a:r>
            <a:br/>
            <a:r>
              <a:t>• Bảng products (32.951 bản ghi): Danh mục ngành hàng, kích thước, khối lượng sản phẩm.</a:t>
            </a:r>
            <a:br/>
            <a:r>
              <a:t>• Bảng order_payments (103.886 bản ghi): Phương thức thanh toán (thẻ, trả góp, boleto), giá trị.</a:t>
            </a:r>
            <a:br/>
            <a:r>
              <a:t>• Bảng order_reviews (99.224 bản ghi): Đánh giá của khách hàng (điểm 1 - 5 sao), phản hồi.</a:t>
            </a:r>
            <a:br/>
            <a:r>
              <a:t>• Bảng sellers (3.095 bản ghi): Thông tin người bán theo địa bàn địa lý.</a:t>
            </a:r>
            <a:br/>
            <a:br/>
            <a:r>
              <a:t>Tính Thực tế Tuyệt đối: Dữ liệu giao dịch thật của sàn thương mại điện tử lớn nhất Brazil, chứa đầy đủ các quan hệ 1-N, N-N phức tạp, hoàn hảo cho bài toán tối ưu hóa CSDL nâng cao.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LƯỢC ĐỒ CƠ SỞ DỮ LIỆU THỰC TẾ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10B. Sơ đồ Quan hệ Thực thể ERD (8 Bảng Chuẩn 3NF, 100k Đơn hàng)</a:t>
            </a:r>
          </a:p>
        </p:txBody>
      </p:sp>
      <p:pic>
        <p:nvPicPr>
          <p:cNvPr id="3" name="Picture 2" descr="fig1_database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3333" y="1234440"/>
            <a:ext cx="854502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11. Thiết kế Tập Truy vấn Đối chuẩn Thực nghiệm Q1 - Q5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Workload Benchmark Mô phỏng Hoạt động Phân tích Kinh doanh Đa chiều</a:t>
            </a:r>
          </a:p>
          <a:p>
            <a:pPr>
              <a:defRPr sz="1200"/>
            </a:pPr>
            <a:r>
              <a:t>• Truy vấn Q1: Báo cáo Doanh thu theo Bang &amp; Trạng thái Giao hàng (2-Table Join + Aggregation)</a:t>
            </a:r>
            <a:br/>
            <a:r>
              <a:t>  orders (100k) JOIN customers (99k), lọc order_status = 'delivered', tính số đơn và ngày giao trung bình theo bang.</a:t>
            </a:r>
            <a:br/>
            <a:br/>
            <a:r>
              <a:t>• Truy vấn Q2: Top 10 Ngành hàng Doanh thu Cao nhất Năm 2017 (3-Table Join + Range Filter)</a:t>
            </a:r>
            <a:br/>
            <a:r>
              <a:t>  orders JOIN order_items JOIN products, lọc khoảng thời gian cả năm 2017, gom nhóm theo ngành hàng. (Kiểm thử Covering Index).</a:t>
            </a:r>
            <a:br/>
            <a:br/>
            <a:r>
              <a:t>• Truy vấn Q3: Tương quan Điểm Đánh giá &amp; Cước phí Vận chuyển (4-Table Join)</a:t>
            </a:r>
            <a:br/>
            <a:r>
              <a:t>  orders JOIN order_items JOIN order_reviews JOIN sellers, phân tích so sánh đơn hàng 1 sao và 5 sao theo từng bang người bán.</a:t>
            </a:r>
            <a:br/>
            <a:br/>
            <a:r>
              <a:t>• Truy vấn Q4: Phân tích Khách hàng VIP &amp; Phương thức Thanh toán (5-Table Join)</a:t>
            </a:r>
            <a:br/>
            <a:r>
              <a:t>  customers JOIN orders JOIN order_payments JOIN order_items JOIN products, lọc payment_value &gt; 500 R$.</a:t>
            </a:r>
            <a:br/>
            <a:br/>
            <a:r>
              <a:t>• Truy vấn Q5: Quét Khoảng Thời gian Đơn hàng (Time-Window Range Scan)</a:t>
            </a:r>
            <a:br/>
            <a:r>
              <a:t>  Quét dữ liệu quý 3 năm 2017 để đo kiểm và đối chứng cơ chế Cắt tỉa phân vùng (Partition Pruning).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PHÂN TÍCH NGHIỆP VỤ THỰC TẾ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11B. Dữ liệu Thực tế: Phương thức Thanh toán &amp; Kỳ hạn Trả góp (Q4)</a:t>
            </a:r>
          </a:p>
        </p:txBody>
      </p:sp>
      <p:pic>
        <p:nvPicPr>
          <p:cNvPr id="3" name="Picture 2" descr="fig5_payme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648290"/>
            <a:ext cx="10698480" cy="438437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12. Quy trình Tinh chỉnh Vật lý 4 Giai đoạn Chuẩn hóa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0</a:t>
            </a:r>
            <a:br/>
            <a:r>
              <a:t>Baseline</a:t>
            </a:r>
          </a:p>
          <a:p>
            <a:pPr>
              <a:defRPr sz="1100"/>
            </a:pPr>
            <a:r>
              <a:t>• Trạng thái Cơ sở Chưa có Chỉ mục.</a:t>
            </a:r>
            <a:br/>
            <a:r>
              <a:t>• Chỉ có khóa chính PK mặc định.</a:t>
            </a:r>
            <a:br/>
            <a:r>
              <a:t>• Mọi phép kết nối và vị từ đều phải SCAN TABLE toàn bộ bảng.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1</a:t>
            </a:r>
            <a:br/>
            <a:r>
              <a:t>Single B-Tree</a:t>
            </a:r>
          </a:p>
          <a:p>
            <a:pPr>
              <a:defRPr sz="1100"/>
            </a:pPr>
            <a:r>
              <a:t>• Tạo chỉ mục đơn trên các khóa ngoại (FK) và cột lọc.</a:t>
            </a:r>
            <a:br/>
            <a:r>
              <a:t>• idx_orders_status</a:t>
            </a:r>
            <a:br/>
            <a:r>
              <a:t>• idx_orders_ts</a:t>
            </a:r>
            <a:br/>
            <a:r>
              <a:t>• idx_items_product</a:t>
            </a:r>
            <a:br/>
            <a:r>
              <a:t>• Chuyển sang SEARCH 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2 &amp; 3</a:t>
            </a:r>
            <a:br/>
            <a:r>
              <a:t>Covering Index</a:t>
            </a:r>
          </a:p>
          <a:p>
            <a:pPr>
              <a:defRPr sz="1100"/>
            </a:pPr>
            <a:r>
              <a:t>• Tạo chỉ mục phức hợp theo tiền tố dài nhất.</a:t>
            </a:r>
            <a:br/>
            <a:r>
              <a:t>• Tạo Covering Index đưa toàn bộ cột SELECT vào lá B-Tree.</a:t>
            </a:r>
            <a:br/>
            <a:r>
              <a:t>• Kích hoạt toán tử INDEX-ONLY SCAN.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371600"/>
            <a:ext cx="2468880" cy="4937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Giai đoạn 4</a:t>
            </a:r>
            <a:br/>
            <a:r>
              <a:t>Partitioning</a:t>
            </a:r>
          </a:p>
          <a:p>
            <a:pPr>
              <a:defRPr sz="1100"/>
            </a:pPr>
            <a:r>
              <a:t>• Phân vùng bảng theo dải thời gian năm.</a:t>
            </a:r>
            <a:br/>
            <a:r>
              <a:t>• Ràng buộc kiểm tra Check Constraints.</a:t>
            </a:r>
            <a:br/>
            <a:r>
              <a:t>• Kích hoạt Partition Pruning bỏ qua phân vùng lịch sử.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13. Bảng Kết quả Đo đạc Định lượng Toàn diện (Q1 - Q5)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4114800"/>
                <a:gridCol w="1828800"/>
                <a:gridCol w="201168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Mã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Tên Truy vấn Nghiệp vụ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Chưa Index (ms)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Covering Index (ms)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</a:rPr>
                        <a:t>Hệ số Tăng tốc</a:t>
                      </a:r>
                    </a:p>
                  </a:txBody>
                  <a:tcPr>
                    <a:solidFill>
                      <a:srgbClr val="182B4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Q1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Báo cáo Doanh thu theo Bang (2 Tables)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1.770,33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1.880,87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0,9x - 1,0x (Nghịch lý)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Top 10 Ngành hàng 2017 (3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2.474,99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1.179,07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E69500"/>
                          </a:solidFill>
                        </a:rPr>
                        <a:t>2,1x (Nhanh hơn 52,4%)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Q3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Tương quan Đánh giá &amp; Cước phí (4 Tables)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3.461,84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3.130,73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1,1x (Hồi phục từ S1)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Khách hàng VIP &amp; Thanh toán (5 Tables)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2.666,27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1.659,81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1,6x (Nhanh hơn 37,7%)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Q5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212529"/>
                          </a:solidFill>
                        </a:rPr>
                        <a:t>Quét Khoảng Thời gian (Partition Pruning)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71,58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12529"/>
                          </a:solidFill>
                        </a:rPr>
                        <a:t>7,26 ms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A8CC"/>
                          </a:solidFill>
                        </a:rPr>
                        <a:t>10x (Nhanh hơn 89,9%)</a:t>
                      </a:r>
                    </a:p>
                  </a:txBody>
                  <a:tcPr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KẾT QUẢ THỰC NGHIỆM ĐỊNH LƯỢNG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13B. Biểu đồ Đối sánh Thời gian Thực thi (Latency) Q1 - Q4</a:t>
            </a:r>
          </a:p>
        </p:txBody>
      </p:sp>
      <p:pic>
        <p:nvPicPr>
          <p:cNvPr id="3" name="Picture 2" descr="fig6_query_lat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16" y="1234440"/>
            <a:ext cx="10462462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14. Phân tích Chuyên sâu Q2: Bứt phá 2,1x nhờ Covering Index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Trước Tối ưu: SCAN TABLE (2.474,99 ms)</a:t>
            </a:r>
          </a:p>
          <a:p>
            <a:pPr>
              <a:defRPr sz="1250"/>
            </a:pPr>
            <a:r>
              <a:t>• Kế hoạch Thực thi Stage 0:</a:t>
            </a:r>
            <a:br/>
            <a:r>
              <a:t>  SCAN oi | BLOOM FILTER ON o | BLOOM FILTER ON p</a:t>
            </a:r>
            <a:br/>
            <a:br/>
            <a:r>
              <a:t>• Hành vi Vật lý:</a:t>
            </a:r>
            <a:br/>
            <a:r>
              <a:t>  Công cụ CSDL phải quét tuần tự toàn bộ 112.650 bản ghi của bảng order_items trên đĩa.</a:t>
            </a:r>
            <a:br/>
            <a:br/>
            <a:r>
              <a:t>• Điểm nghẽn I/O:</a:t>
            </a:r>
            <a:br/>
            <a:r>
              <a:t>  Hàng nghìn trang đĩa vật lý bị nạp vào bộ nhớ, tiêu tốn 2.474,99 ms thời gian CPU và đĩa.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Sau Tối ưu: INDEX-ONLY SCAN (1.179,07 ms)</a:t>
            </a:r>
          </a:p>
          <a:p>
            <a:pPr>
              <a:defRPr sz="1250"/>
            </a:pPr>
            <a:r>
              <a:t>• Giải pháp Tinh chỉnh Stage 3:</a:t>
            </a:r>
            <a:br/>
            <a:r>
              <a:t>  Tạo chỉ mục bao phủ:</a:t>
            </a:r>
            <a:br/>
            <a:r>
              <a:t>  CREATE INDEX idx_items_covering ON order_items(order_id, product_id, price, freight_value);</a:t>
            </a:r>
            <a:br/>
            <a:br/>
            <a:r>
              <a:t>• Kế hoạch Thực thi Tối ưu:</a:t>
            </a:r>
            <a:br/>
            <a:r>
              <a:t>  SEARCH o USING INDEX idx_orders_ts | SEARCH oi USING INDEX idx_items_covering (order_id=?)</a:t>
            </a:r>
            <a:br/>
            <a:br/>
            <a:r>
              <a:t>• Kết quả:</a:t>
            </a:r>
            <a:br/>
            <a:r>
              <a:t>  Triệt tiêu 100% việc đọc trang bảng order_items, thời gian giảm xuống 1.179,07 ms (Nhanh gấp 2,1 lần)!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KẾT QUẢ THỰC NGHIỆM ĐỊNH LƯỢNG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14B. Kết quả Nghiệp vụ Q2: Top 10 Ngành hàng Doanh thu Cao nhất 2017</a:t>
            </a:r>
          </a:p>
        </p:txBody>
      </p:sp>
      <p:pic>
        <p:nvPicPr>
          <p:cNvPr id="3" name="Picture 2" descr="fig4_top_categories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597" y="1234440"/>
            <a:ext cx="105125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15. Phân tích Chuyên sâu Q1 &amp; Q3: Nghịch lý Độ Chọn lọc Thấp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Hiện tượng Suy giảm Hiệu năng ở Stage 1</a:t>
            </a:r>
          </a:p>
          <a:p>
            <a:pPr>
              <a:defRPr sz="1250"/>
            </a:pPr>
            <a:r>
              <a:t>• Khi tạo chỉ mục đơn idx_orders_status ON orders(order_status):</a:t>
            </a:r>
            <a:br/>
            <a:r>
              <a:t>  - Q1: Chậm từ 1.770,33 ms lên 1.997,52 ms (+12,8%)</a:t>
            </a:r>
            <a:br/>
            <a:r>
              <a:t>  - Q3: Chậm từ 3.461,84 ms lên 4.175,80 ms (+20,6%)</a:t>
            </a:r>
            <a:br/>
            <a:br/>
            <a:r>
              <a:t>• Câu hỏi Đặt ra:</a:t>
            </a:r>
            <a:br/>
            <a:r>
              <a:t>  Tại sao có thêm chỉ mục B-Tree mà truy vấn lại chạy chậm hơn quét toàn bảng (Full Table Scan)?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Bản chất Học thuật &amp; Khắc phục</a:t>
            </a:r>
          </a:p>
          <a:p>
            <a:pPr>
              <a:defRPr sz="1250"/>
            </a:pPr>
            <a:r>
              <a:t>• Bản chất Thống kê Dữ liệu Thực tế:</a:t>
            </a:r>
            <a:br/>
            <a:r>
              <a:t>  Có tới 96.478 trong tổng số 99.441 đơn hàng mang trạng thái 'delivered' (Độ chọn lọc Selectivity = 97,02%)!</a:t>
            </a:r>
            <a:br/>
            <a:br/>
            <a:r>
              <a:t>• Căn nguyên I/O:</a:t>
            </a:r>
            <a:br/>
            <a:r>
              <a:t>  Duyệt chỉ mục B-Tree buộc hệ thống thực hiện &gt;96.000 phép đọc đĩa ngẫu nhiên (Random Disk Seeks). Quét tuần tự nhanh hơn vì đọc các khối trang liên tiếp (Graefe 2011).</a:t>
            </a:r>
            <a:br/>
            <a:br/>
            <a:r>
              <a:t>• Giải pháp Khắc phục:</a:t>
            </a:r>
            <a:br/>
            <a:r>
              <a:t>  Chuyển sang Composite Index hoặc Partial Index, phục hồi lại thời gian tối ưu.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NGHỊCH LÝ CHỈ MỤC &amp; ĐỘ CHỌN LỌC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15B. Minh chứng Dữ liệu: Phân bố Trạng thái Đơn hàng (97,02% Delivered)</a:t>
            </a:r>
          </a:p>
        </p:txBody>
      </p:sp>
      <p:pic>
        <p:nvPicPr>
          <p:cNvPr id="3" name="Picture 2" descr="fig2_order_statu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369868"/>
            <a:ext cx="10698480" cy="49412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16. Phân tích Chuyên sâu Q5: Tăng tốc 10x nhờ Partition Pruning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Bảng Không Phân vùng: 71,58 ms</a:t>
            </a:r>
          </a:p>
          <a:p>
            <a:pPr>
              <a:defRPr sz="1250"/>
            </a:pPr>
            <a:r>
              <a:t>• Câu truy vấn quét dữ liệu Quý 3/2017:</a:t>
            </a:r>
            <a:br/>
            <a:r>
              <a:t>  WHERE order_purchase_timestamp BETWEEN '2017-06-01' AND '2017-08-31'</a:t>
            </a:r>
            <a:br/>
            <a:br/>
            <a:r>
              <a:t>• Hành vi của Bảng Đơn khối:</a:t>
            </a:r>
            <a:br/>
            <a:r>
              <a:t>  Hệ thống buộc phải quét tuần tự toàn bộ 99.441 dòng của bảng orders, nạp hàng nghìn trang đĩa chứa cả các đơn hàng năm 2016 và 2018 không liên quan.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Phân vùng có Cắt tỉa: 7,26 ms (Nhanh hơn 89,9%)</a:t>
            </a:r>
          </a:p>
          <a:p>
            <a:pPr>
              <a:defRPr sz="1250"/>
            </a:pPr>
            <a:r>
              <a:t>• Cơ chế Cắt tỉa Phân vùng (Partition Pruning):</a:t>
            </a:r>
            <a:br/>
            <a:r>
              <a:t>  Bộ tối ưu hóa đối chiếu ràng buộc kiểm tra của các phân vùng:</a:t>
            </a:r>
            <a:br/>
            <a:r>
              <a:t>  - Bỏ qua phân vùng orders_2016 (329 dòng)</a:t>
            </a:r>
            <a:br/>
            <a:r>
              <a:t>  - Bỏ qua phân vùng orders_2018 (54.011 dòng)</a:t>
            </a:r>
            <a:br/>
            <a:br/>
            <a:r>
              <a:t>• Kết quả:</a:t>
            </a:r>
            <a:br/>
            <a:r>
              <a:t>  Chỉ quét duy nhất phân vùng orders_2017. Thời gian giảm thẳng từ 71,58 ms xuống 7,26 ms, tăng tốc gần 10 lần!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KẾT QUẢ THỰC NGHIỆM ĐỊNH LƯỢNG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16B. Minh chứng Thực nghiệm Q5: Cắt tỉa Phân vùng Tăng tốc Gần 10 Lần</a:t>
            </a:r>
          </a:p>
        </p:txBody>
      </p:sp>
      <p:pic>
        <p:nvPicPr>
          <p:cNvPr id="3" name="Picture 2" descr="fig7_partition_pruning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607" y="1443888"/>
            <a:ext cx="10698480" cy="479318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17. Bộ Chỉ dẫn Thiết kế Vật lý Thực tiễn cho Doanh nghiệp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6984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4 Quy tắc Vàng Đúc kết từ Thực nghiệm Dữ liệu Lớn</a:t>
            </a:r>
          </a:p>
          <a:p>
            <a:pPr>
              <a:defRPr sz="1300"/>
            </a:pPr>
            <a:r>
              <a:t>1. Quy tắc Ngưỡng Chọn lọc (Selectivity Rule):</a:t>
            </a:r>
            <a:br/>
            <a:r>
              <a:t>   Tuyệt đối không tạo chỉ mục đơn trên các thuộc tính có độ chọn lọc thấp (tỷ lệ thỏa mãn &gt; 20%), trừ khi dùng trong Composite Index hoặc Partial Index.</a:t>
            </a:r>
            <a:br/>
            <a:br/>
            <a:r>
              <a:t>2. Thiết kế Covering Index cho các Truy vấn Trọng yếu (Critical Path Queries):</a:t>
            </a:r>
            <a:br/>
            <a:r>
              <a:t>   Đưa toàn bộ danh sách các cột cần hiển thị trong SELECT vào chỉ mục để kích hoạt INDEX-ONLY SCAN, loại bỏ 100% chi phí đọc Heap đĩa.</a:t>
            </a:r>
            <a:br/>
            <a:br/>
            <a:r>
              <a:t>3. Thu thập Số liệu Thống kê Định kỳ (ANALYZE / Statistics):</a:t>
            </a:r>
            <a:br/>
            <a:r>
              <a:t>   Số liệu phân phối histogram và số giá trị phân biệt (n_distinct) chính xác là điều kiện tiên quyết để CBO không chọn nhầm kế hoạch tồi.</a:t>
            </a:r>
            <a:br/>
            <a:br/>
            <a:r>
              <a:t>4. Áp dụng Phân vùng Bảng theo Thời gian (Time-Range Partitioning):</a:t>
            </a:r>
            <a:br/>
            <a:r>
              <a:t>   Đối với các bảng đơn hàng và giao dịch chuỗi thời gian, phân vùng kết hợp Partition Pruning là giải pháp tối thượng để duy trì hiệu năng ổn định.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200"/>
              </a:spcAft>
              <a:defRPr sz="1000" b="1">
                <a:solidFill>
                  <a:srgbClr val="00A8CC"/>
                </a:solidFill>
                <a:latin typeface="Arial"/>
              </a:defRPr>
            </a:pPr>
            <a:r>
              <a:t>CƠ SỞ DỮ LIỆU NÂNG CAO - BÁO CÁO CAO HỌC</a:t>
            </a:r>
          </a:p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t>18. Đóng góp Khoa học &amp; Hướng Mở rộng Luận văn Thạc sĩ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Đóng góp của Dự án</a:t>
            </a:r>
          </a:p>
          <a:p>
            <a:pPr>
              <a:defRPr sz="1250"/>
            </a:pPr>
            <a:r>
              <a:t>• Bộ Dữ liệu Thực tế &amp; Lược đồ 3NF:</a:t>
            </a:r>
            <a:br/>
            <a:r>
              <a:t>  Xây dựng CSDL quan hệ thực tế chuẩn hóa từ sàn thương mại Olist Store (85 MB, 100k đơn hàng).</a:t>
            </a:r>
            <a:br/>
            <a:br/>
            <a:r>
              <a:t>• Kiểm chứng Lý thuyết bằng Thực nghiệm:</a:t>
            </a:r>
            <a:br/>
            <a:r>
              <a:t>  Minh chứng định lượng hiện tượng nghịch lý chỉ mục, cơ chế Index-Only Scan và Partition Pruning.</a:t>
            </a:r>
            <a:br/>
            <a:br/>
            <a:r>
              <a:t>• Bản thảo Bài báo IEEE Chuẩn mực:</a:t>
            </a:r>
            <a:br/>
            <a:r>
              <a:t>  Hoàn thiện bản thảo khoa học IMRAD và mã nguồn LaTeX sẵn sàng nộp các hội nghị chuyên ngành.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371600"/>
            <a:ext cx="5212080" cy="49377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82B49"/>
                </a:solidFill>
                <a:latin typeface="Arial"/>
              </a:defRPr>
            </a:pPr>
            <a:r>
              <a:t>Hướng Phát triển Luận văn Thạc sĩ</a:t>
            </a:r>
          </a:p>
          <a:p>
            <a:pPr>
              <a:defRPr sz="1250"/>
            </a:pPr>
            <a:r>
              <a:t>• Learned Query Optimization (Bao &amp; Neo):</a:t>
            </a:r>
            <a:br/>
            <a:r>
              <a:t>  Ứng dụng mạng nơ-ron Tree-CNN và Reinforcement Learning tự động học các cờ gợi ý (Optimizer Hints) thích ứng với khối lượng công việc động.</a:t>
            </a:r>
            <a:br/>
            <a:br/>
            <a:r>
              <a:t>• CSDL Lai HTAP (Hybrid Transactional/Analytical):</a:t>
            </a:r>
            <a:br/>
            <a:r>
              <a:t>  Đánh giá hiệu năng đồng thời giữa xử lý giao dịch OLTP và phân tích OLAP trên kiến trúc cột hiện đại (DuckDB/ClickHouse).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B49"/>
          </a:solidFill>
          <a:ln>
            <a:solidFill>
              <a:srgbClr val="18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600"/>
              </a:spcAft>
              <a:defRPr sz="2800" b="1">
                <a:solidFill>
                  <a:srgbClr val="FFFFFF"/>
                </a:solidFill>
                <a:latin typeface="Arial"/>
              </a:defRPr>
            </a:pPr>
            <a:r>
              <a:t>XIN TRÂN TRỌNG CẢM ƠN THẦY CÔ VÀ HỘI ĐỒNG!</a:t>
            </a:r>
          </a:p>
          <a:p>
            <a:pPr algn="ctr">
              <a:spcAft>
                <a:spcPts val="2400"/>
              </a:spcAft>
              <a:defRPr sz="1800">
                <a:solidFill>
                  <a:srgbClr val="00A8CC"/>
                </a:solidFill>
                <a:latin typeface="Arial"/>
              </a:defRPr>
            </a:pPr>
            <a:r>
              <a:t>Kính mong nhận được sự nhận xét và đóng góp ý kiến của Thầy Cô!</a:t>
            </a:r>
          </a:p>
          <a:p>
            <a:pPr algn="ctr">
              <a:defRPr sz="1300">
                <a:solidFill>
                  <a:srgbClr val="E69500"/>
                </a:solidFill>
                <a:latin typeface="Arial"/>
              </a:defRPr>
            </a:pPr>
            <a:r>
              <a:t>Học phần: Cơ sở dữ liệu nâng cao  |  Chương trình Thạc sĩ CNTT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